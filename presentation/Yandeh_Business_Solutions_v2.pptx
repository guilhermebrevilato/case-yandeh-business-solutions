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4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1B4B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E1B4B"/>
                </a:solidFill>
                <a:latin typeface="Arial"/>
              </a:rPr>
              <a:t>Volume de Entregas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Entregas</c:v>
                </c:pt>
              </c:strCache>
            </c:strRef>
          </c:tx>
          <c:spPr>
            <a:solidFill>
              <a:srgbClr val="7C3AE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7C3AE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7C3AED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7C3AED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D267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D2670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7C3AED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VUC</c:v>
                  </c:pt>
                  <c:pt idx="1">
                    <c:v>3/4</c:v>
                  </c:pt>
                  <c:pt idx="2">
                    <c:v>Toco</c:v>
                  </c:pt>
                  <c:pt idx="3">
                    <c:v>Carreta_Bau</c:v>
                  </c:pt>
                  <c:pt idx="4">
                    <c:v>Carreta_Sider</c:v>
                  </c:pt>
                  <c:pt idx="5">
                    <c:v>Truck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2956</c:v>
                </c:pt>
                <c:pt idx="1">
                  <c:v>2251</c:v>
                </c:pt>
                <c:pt idx="2">
                  <c:v>1921</c:v>
                </c:pt>
                <c:pt idx="3">
                  <c:v>1628</c:v>
                </c:pt>
                <c:pt idx="4">
                  <c:v>1582</c:v>
                </c:pt>
                <c:pt idx="5">
                  <c:v>1580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1B4B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E1B4B"/>
                </a:solidFill>
                <a:latin typeface="Arial"/>
              </a:rPr>
              <a:t>Participação na Margem Bruta Total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Participação na margem (%)</c:v>
                </c:pt>
              </c:strCache>
            </c:strRef>
          </c:tx>
          <c:spPr>
            <a:solidFill>
              <a:srgbClr val="A8B4F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A8B4F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A8B4F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A8B4F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A8B4F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D2670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2D2670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VUC</c:v>
                  </c:pt>
                  <c:pt idx="1">
                    <c:v>3/4</c:v>
                  </c:pt>
                  <c:pt idx="2">
                    <c:v>Toco</c:v>
                  </c:pt>
                  <c:pt idx="3">
                    <c:v>Truck</c:v>
                  </c:pt>
                  <c:pt idx="4">
                    <c:v>Carreta_Sider</c:v>
                  </c:pt>
                  <c:pt idx="5">
                    <c:v>Carreta_Bau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5.44</c:v>
                </c:pt>
                <c:pt idx="1">
                  <c:v>5.44</c:v>
                </c:pt>
                <c:pt idx="2">
                  <c:v>7.29</c:v>
                </c:pt>
                <c:pt idx="3">
                  <c:v>9.65</c:v>
                </c:pt>
                <c:pt idx="4">
                  <c:v>35.93</c:v>
                </c:pt>
                <c:pt idx="5">
                  <c:v>36.26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Entregas Atrasadas</c:v>
                </c:pt>
              </c:strCache>
            </c:strRef>
          </c:tx>
          <c:spPr>
            <a:solidFill>
              <a:srgbClr val="A8B4F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A8B4F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A8B4F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A8B4F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5B21B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B91C1C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VUC</c:v>
                  </c:pt>
                  <c:pt idx="1">
                    <c:v>3/4</c:v>
                  </c:pt>
                  <c:pt idx="2">
                    <c:v>Toco</c:v>
                  </c:pt>
                  <c:pt idx="3">
                    <c:v>Truck</c:v>
                  </c:pt>
                  <c:pt idx="4">
                    <c:v>Carreta_Bau</c:v>
                  </c:pt>
                  <c:pt idx="5">
                    <c:v>Carreta_Sider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55.35</c:v>
                </c:pt>
                <c:pt idx="1">
                  <c:v>55.98</c:v>
                </c:pt>
                <c:pt idx="2">
                  <c:v>56.53</c:v>
                </c:pt>
                <c:pt idx="3">
                  <c:v>62.03</c:v>
                </c:pt>
                <c:pt idx="4">
                  <c:v>64.43</c:v>
                </c:pt>
                <c:pt idx="5">
                  <c:v>65.61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1B4B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E1B4B"/>
                </a:solidFill>
                <a:latin typeface="Arial"/>
              </a:rPr>
              <a:t>Conversão Média por Faixa de Experiência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Conversão média (%)</c:v>
                </c:pt>
              </c:strCache>
            </c:strRef>
          </c:tx>
          <c:spPr>
            <a:solidFill>
              <a:srgbClr val="4B3FA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B3FA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5B21B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7C3AED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A8B4F8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0–2 anos</c:v>
                  </c:pt>
                  <c:pt idx="1">
                    <c:v>3–5 anos</c:v>
                  </c:pt>
                  <c:pt idx="2">
                    <c:v>6–10 anos</c:v>
                  </c:pt>
                  <c:pt idx="3">
                    <c:v>11+ anos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15.14</c:v>
                </c:pt>
                <c:pt idx="1">
                  <c:v>13.22</c:v>
                </c:pt>
                <c:pt idx="2">
                  <c:v>13.07</c:v>
                </c:pt>
                <c:pt idx="3">
                  <c:v>10.83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267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B3FA0"/>
          </a:solidFill>
          <a:ln w="12700">
            <a:solidFill>
              <a:srgbClr val="4B3FA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480560"/>
            <a:ext cx="9144000" cy="658368"/>
          </a:xfrm>
          <a:prstGeom prst="rect">
            <a:avLst/>
          </a:prstGeom>
          <a:solidFill>
            <a:srgbClr val="4B3FA0"/>
          </a:solidFill>
          <a:ln w="12700">
            <a:solidFill>
              <a:srgbClr val="4B3F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A8B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TÉCNICO · DATA SCIENCE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13258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Yandeh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411480" y="21488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A8B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Solutions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11480" y="2834640"/>
            <a:ext cx="3200400" cy="45720"/>
          </a:xfrm>
          <a:prstGeom prst="rect">
            <a:avLst/>
          </a:prstGeom>
          <a:solidFill>
            <a:srgbClr val="A8B4F8"/>
          </a:solidFill>
          <a:ln w="12700">
            <a:solidFill>
              <a:srgbClr val="A8B4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30175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7C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Eficiência Logística e Comercial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11480" y="45262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Guilherme Brevilato  ·  Maio 2025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48463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github.com/GuilhermeBrevilato/case-yandeh-business-solutions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D2670"/>
          </a:solidFill>
          <a:ln w="12700">
            <a:solidFill>
              <a:srgbClr val="2D267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 DE NEGÓCIO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8412480" cy="1005840"/>
          </a:xfrm>
          <a:prstGeom prst="rect">
            <a:avLst/>
          </a:prstGeom>
          <a:solidFill>
            <a:srgbClr val="EBE9F8"/>
          </a:solidFill>
          <a:ln w="12700">
            <a:solidFill>
              <a:srgbClr val="E2E0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777240"/>
            <a:ext cx="91440" cy="1005840"/>
          </a:xfrm>
          <a:prstGeom prst="rect">
            <a:avLst/>
          </a:prstGeom>
          <a:solidFill>
            <a:srgbClr val="4B3FA0"/>
          </a:solidFill>
          <a:ln w="12700">
            <a:solidFill>
              <a:srgbClr val="4B3F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82296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Yandeh apresentou crescimento de receita, mas esse avanço não se refletiu proporcionalmente no lucro líquido. O case é uma investigação sobre onde a empresa perde margem, previsibilidade e eficiência."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920240"/>
            <a:ext cx="4114800" cy="2011680"/>
          </a:xfrm>
          <a:prstGeom prst="rect">
            <a:avLst/>
          </a:prstGeom>
          <a:solidFill>
            <a:srgbClr val="F1F0FA"/>
          </a:solidFill>
          <a:ln w="12700">
            <a:solidFill>
              <a:srgbClr val="E2E0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920240"/>
            <a:ext cx="4114800" cy="347472"/>
          </a:xfrm>
          <a:prstGeom prst="rect">
            <a:avLst/>
          </a:prstGeom>
          <a:solidFill>
            <a:srgbClr val="4B3FA0"/>
          </a:solidFill>
          <a:ln w="12700">
            <a:solidFill>
              <a:srgbClr val="4B3F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9202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Desafio Logístico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2304288"/>
            <a:ext cx="3840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Indícios de que o custo logístico em certas rotas supera o frete cobrado. Previsões de tempo do sistema estão falhando severamente.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1920240"/>
            <a:ext cx="4114800" cy="2011680"/>
          </a:xfrm>
          <a:prstGeom prst="rect">
            <a:avLst/>
          </a:prstGeom>
          <a:solidFill>
            <a:srgbClr val="F1F0FA"/>
          </a:solidFill>
          <a:ln w="12700">
            <a:solidFill>
              <a:srgbClr val="E2E0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920240"/>
            <a:ext cx="411480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19202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Desafio Comercial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00600" y="2304288"/>
            <a:ext cx="3840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Dois canais de vendas: Inside Sales e Field Sales. ROI desconhecido. Qual canal realmente compensa considerando experiência do vendedor e custo da visita?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4069080"/>
            <a:ext cx="8412480" cy="685800"/>
          </a:xfrm>
          <a:prstGeom prst="rect">
            <a:avLst/>
          </a:prstGeom>
          <a:solidFill>
            <a:srgbClr val="2D2670"/>
          </a:solidFill>
          <a:ln w="12700">
            <a:solidFill>
              <a:srgbClr val="2D267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0690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Missão: analisar os dados de vendas e entregas para recomendar onde focar no próximo semestre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D2670"/>
          </a:solidFill>
          <a:ln w="12700">
            <a:solidFill>
              <a:srgbClr val="2D267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METODOLOGIA E QUALIDADE DOS DADOS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2560320" cy="1645920"/>
          </a:xfrm>
          <a:prstGeom prst="rect">
            <a:avLst/>
          </a:prstGeom>
          <a:solidFill>
            <a:srgbClr val="F1F0FA"/>
          </a:solidFill>
          <a:ln w="12700">
            <a:solidFill>
              <a:srgbClr val="E2E0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60120"/>
            <a:ext cx="411480" cy="411480"/>
          </a:xfrm>
          <a:prstGeom prst="ellipse">
            <a:avLst/>
          </a:prstGeom>
          <a:solidFill>
            <a:srgbClr val="4B3FA0"/>
          </a:solidFill>
          <a:ln w="12700">
            <a:solidFill>
              <a:srgbClr val="4B3F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60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9601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Carregamento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23317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Bases originais preservadas: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entregas_logistica.csv (12.000)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vendas_vendedores.csv (50)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0" y="822960"/>
            <a:ext cx="2560320" cy="1645920"/>
          </a:xfrm>
          <a:prstGeom prst="rect">
            <a:avLst/>
          </a:prstGeom>
          <a:solidFill>
            <a:srgbClr val="F1F0FA"/>
          </a:solidFill>
          <a:ln w="12700">
            <a:solidFill>
              <a:srgbClr val="E2E0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37560" y="960120"/>
            <a:ext cx="411480" cy="411480"/>
          </a:xfrm>
          <a:prstGeom prst="ellipse">
            <a:avLst/>
          </a:prstGeom>
          <a:solidFill>
            <a:srgbClr val="4B3FA0"/>
          </a:solidFill>
          <a:ln w="12700">
            <a:solidFill>
              <a:srgbClr val="4B3F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960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840480" y="9601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Qualidade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37560" y="1417320"/>
            <a:ext cx="23317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 de nulos, duplicados, inconsistências e outliers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80760" y="822960"/>
            <a:ext cx="2560320" cy="1645920"/>
          </a:xfrm>
          <a:prstGeom prst="rect">
            <a:avLst/>
          </a:prstGeom>
          <a:solidFill>
            <a:srgbClr val="F1F0FA"/>
          </a:solidFill>
          <a:ln w="12700">
            <a:solidFill>
              <a:srgbClr val="E2E0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960120"/>
            <a:ext cx="411480" cy="411480"/>
          </a:xfrm>
          <a:prstGeom prst="ellipse">
            <a:avLst/>
          </a:prstGeom>
          <a:solidFill>
            <a:srgbClr val="4B3FA0"/>
          </a:solidFill>
          <a:ln w="12700">
            <a:solidFill>
              <a:srgbClr val="4B3F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960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720840" y="9601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Tratamento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17920" y="1417320"/>
            <a:ext cx="23317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Bases auxiliares para cada análise — dados brutos nunca alterados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0040" y="2743200"/>
            <a:ext cx="2560320" cy="1645920"/>
          </a:xfrm>
          <a:prstGeom prst="rect">
            <a:avLst/>
          </a:prstGeom>
          <a:solidFill>
            <a:srgbClr val="F1F0FA"/>
          </a:solidFill>
          <a:ln w="12700">
            <a:solidFill>
              <a:srgbClr val="E2E0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2880360"/>
            <a:ext cx="411480" cy="411480"/>
          </a:xfrm>
          <a:prstGeom prst="ellipse">
            <a:avLst/>
          </a:prstGeom>
          <a:solidFill>
            <a:srgbClr val="4B3FA0"/>
          </a:solidFill>
          <a:ln w="12700">
            <a:solidFill>
              <a:srgbClr val="4B3F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880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60120" y="28803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3337560"/>
            <a:ext cx="23317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Margem bruta, margem %, atrasou, taxa de conversão, faturamento estimado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00400" y="2743200"/>
            <a:ext cx="2560320" cy="1645920"/>
          </a:xfrm>
          <a:prstGeom prst="rect">
            <a:avLst/>
          </a:prstGeom>
          <a:solidFill>
            <a:srgbClr val="F1F0FA"/>
          </a:solidFill>
          <a:ln w="12700">
            <a:solidFill>
              <a:srgbClr val="E2E0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337560" y="2880360"/>
            <a:ext cx="411480" cy="411480"/>
          </a:xfrm>
          <a:prstGeom prst="ellipse">
            <a:avLst/>
          </a:prstGeom>
          <a:solidFill>
            <a:srgbClr val="4B3FA0"/>
          </a:solidFill>
          <a:ln w="12700">
            <a:solidFill>
              <a:srgbClr val="4B3FA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37560" y="2880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840480" y="28803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337560" y="3337560"/>
            <a:ext cx="23317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Frota, margem, atraso, ocupação, eficiência/km, canal, conversão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080760" y="2743200"/>
            <a:ext cx="2560320" cy="1645920"/>
          </a:xfrm>
          <a:prstGeom prst="rect">
            <a:avLst/>
          </a:prstGeom>
          <a:solidFill>
            <a:srgbClr val="F1F0FA"/>
          </a:solidFill>
          <a:ln w="12700">
            <a:solidFill>
              <a:srgbClr val="E2E0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217920" y="2880360"/>
            <a:ext cx="411480" cy="411480"/>
          </a:xfrm>
          <a:prstGeom prst="ellipse">
            <a:avLst/>
          </a:prstGeom>
          <a:solidFill>
            <a:srgbClr val="4B3FA0"/>
          </a:solidFill>
          <a:ln w="12700">
            <a:solidFill>
              <a:srgbClr val="4B3FA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17920" y="2880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720840" y="28803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Recomendação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217920" y="3337560"/>
            <a:ext cx="23317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Consolidação dos achados em estratégia baseada nos números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20040" y="4434840"/>
            <a:ext cx="8503920" cy="502920"/>
          </a:xfrm>
          <a:prstGeom prst="rect">
            <a:avLst/>
          </a:prstGeom>
          <a:solidFill>
            <a:srgbClr val="EBE9F8"/>
          </a:solidFill>
          <a:ln w="12700">
            <a:solidFill>
              <a:srgbClr val="E2E0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4453128"/>
            <a:ext cx="822960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Logística: 81 registros removidos (0,68%) → 11.919 válidos  |  Comercial: bases auxiliares com 49 e 47 vendedores para análises específicas  |  Margem bruta negativa preservada como achado de negócio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D2670"/>
          </a:solidFill>
          <a:ln w="12700">
            <a:solidFill>
              <a:srgbClr val="2D267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LOGÍSTICA — VOLUME E RENTABILIDADE POR FROTA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777240"/>
          <a:ext cx="420624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4663440" y="777240"/>
          <a:ext cx="420624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365760" y="3246120"/>
            <a:ext cx="8412480" cy="822960"/>
          </a:xfrm>
          <a:prstGeom prst="rect">
            <a:avLst/>
          </a:prstGeom>
          <a:solidFill>
            <a:srgbClr val="EBE9F8"/>
          </a:solidFill>
          <a:ln w="12700">
            <a:solidFill>
              <a:srgbClr val="E2E0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365760" y="3246120"/>
            <a:ext cx="91440" cy="822960"/>
          </a:xfrm>
          <a:prstGeom prst="rect">
            <a:avLst/>
          </a:prstGeom>
          <a:solidFill>
            <a:srgbClr val="4B3FA0"/>
          </a:solidFill>
          <a:ln w="12700">
            <a:solidFill>
              <a:srgbClr val="4B3FA0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94360" y="3291840"/>
            <a:ext cx="8046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Virada importante: as frotas com maior volume não são as que mais contribuem financeiramente. Carreta_Bau (36,26%) + Carreta_Sider (35,93%) concentram juntas ~72% da margem bruta total — mesmo com menos volume que o VUC.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4160520"/>
          <a:ext cx="841248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286000"/>
                <a:gridCol w="1828800"/>
                <a:gridCol w="2468880"/>
              </a:tblGrid>
              <a:tr h="1463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67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Margem Total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67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na Margem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67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Margem Média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670"/>
                    </a:solidFill>
                  </a:tcPr>
                </a:tc>
              </a:tr>
              <a:tr h="1463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Carreta_Bau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R$ 2.634.701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36,26%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R$ 1.618,37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463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Carreta_Sider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R$ 2.611.022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35,93%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R$ 1.650,46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463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Truck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R$ 701.131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9,65%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R$ 443,75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463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Toco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R$ 529.431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7,29%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R$ 275,60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463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VUC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R$ 395.064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5,44%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R$ 133,65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463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3/4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R$ 394.975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5,44%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R$ 175,47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D2670"/>
          </a:solidFill>
          <a:ln w="12700">
            <a:solidFill>
              <a:srgbClr val="2D267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LOGÍSTICA — PROBABILIDADE DE ATRASO POR FROTA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777240"/>
          <a:ext cx="512064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77840" y="777240"/>
          <a:ext cx="3200400" cy="1234440"/>
        </p:xfrm>
        <a:graphic>
          <a:graphicData uri="http://schemas.openxmlformats.org/drawingml/2006/table">
            <a:tbl>
              <a:tblPr/>
              <a:tblGrid>
                <a:gridCol w="1097280"/>
                <a:gridCol w="777240"/>
                <a:gridCol w="777240"/>
                <a:gridCol w="548640"/>
              </a:tblGrid>
              <a:tr h="1737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Frota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67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Prob. Atraso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67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Atraso Médio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67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Atraso Mediano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670"/>
                    </a:solidFill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Carreta_Sider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65,61%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27,22 min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25,16 min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Carreta_Bau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64,43%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25,63 min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25,72 min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Truck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62,03%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10,51 min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9,08 min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Toco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56,53%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5,39 min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4,29 min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3/4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55,98%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3,59 min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3,60 min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VUC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55,35%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2,49 min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3,12 min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5577840" y="2148840"/>
            <a:ext cx="3200400" cy="192024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5715000" y="2212848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Paradoxo Crítico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5715000" y="2624328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Carreta_Bau e Carreta_Sider concentram ~72% da margem bruta, mas também têm as maiores probabilidades de atraso (&gt;64%) e os maiores desvios de tempo (25-27 min).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frotas mais valiosas são as de maior risco operacional.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365760" y="4206240"/>
            <a:ext cx="8412480" cy="640080"/>
          </a:xfrm>
          <a:prstGeom prst="rect">
            <a:avLst/>
          </a:prstGeom>
          <a:solidFill>
            <a:srgbClr val="EBE9F8"/>
          </a:solidFill>
          <a:ln w="12700">
            <a:solidFill>
              <a:srgbClr val="E2E0F0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48640" y="4233672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ocupação média ficou muito próxima entre as frotas (57%–59%), então não explica sozinha o atraso das carretas. O fator mais provável: carretas operam rotas muito mais longas (&gt;370 km vs &lt;90 km das demais frotas).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D2670"/>
          </a:solidFill>
          <a:ln w="12700">
            <a:solidFill>
              <a:srgbClr val="2D267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LOGÍSTICA — MATRIZ MARGEM × ATRASO (diagnóstico principal)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4160520" cy="4114800"/>
          </a:xfrm>
          <a:prstGeom prst="rect">
            <a:avLst/>
          </a:prstGeom>
          <a:solidFill>
            <a:srgbClr val="F8F7FF"/>
          </a:solidFill>
          <a:ln w="12700">
            <a:solidFill>
              <a:srgbClr val="E2E0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26280" y="777240"/>
            <a:ext cx="4251960" cy="4114800"/>
          </a:xfrm>
          <a:prstGeom prst="rect">
            <a:avLst/>
          </a:prstGeom>
          <a:solidFill>
            <a:srgbClr val="FEF2F2"/>
          </a:solidFill>
          <a:ln w="12700">
            <a:solidFill>
              <a:srgbClr val="E2E0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04672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Baixa margem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26280" y="804672"/>
            <a:ext cx="4251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margem  ⚠  Prioridade máxima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4663440"/>
            <a:ext cx="4160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◄  Menor prob. de atraso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26280" y="4663440"/>
            <a:ext cx="4251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Maior prob. de atraso  ►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1143000"/>
            <a:ext cx="39776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0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1143000"/>
            <a:ext cx="82296" cy="80467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119786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VUC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21792" y="1472184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Margem: 5,44%  |  Prob. atraso: 55,35%  |  Margem média: R$ 133,65  |  Margem/km: R$ 2,85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2057400"/>
            <a:ext cx="39776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0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057400"/>
            <a:ext cx="82296" cy="80467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" y="211226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3/4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1792" y="2386584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Margem: 5,44%  |  Prob. atraso: 55,98%  |  Margem média: R$ 175,47  |  Margem/km: R$ 3,36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2971800"/>
            <a:ext cx="39776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0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2971800"/>
            <a:ext cx="82296" cy="80467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" y="302666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Toco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1792" y="3300984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Margem: 7,29%  |  Prob. atraso: 56,53%  |  Margem média: R$ 275,60  |  Margem/km: R$ 4,10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7200" y="3886200"/>
            <a:ext cx="39776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0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3886200"/>
            <a:ext cx="82296" cy="80467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" y="394106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Truck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1792" y="4215384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Margem: 9,65%  |  Prob. atraso: 62,03%  |  Margem média: R$ 443,75  |  Margem/km: R$ 6,30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617720" y="1143000"/>
            <a:ext cx="40690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17720" y="1143000"/>
            <a:ext cx="82296" cy="13716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119786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Carreta_Sider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782312" y="150876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Margem: 35,93%  |  Prob. atraso: 65,61%  |  Margem média: R$ 1.650,46  |  Margem/km: R$ 4,49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617720" y="2697480"/>
            <a:ext cx="40690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17720" y="2697480"/>
            <a:ext cx="82296" cy="13716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82312" y="275234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Carreta_Bau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782312" y="306324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Margem: 36,26%  |  Prob. atraso: 64,43%  |  Margem média: R$ 1.618,37  |  Margem/km: R$ 4,40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D2670"/>
          </a:solidFill>
          <a:ln w="12700">
            <a:solidFill>
              <a:srgbClr val="2D267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COMERCIAL — INSIDE SALES vs FIELD SALES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4160520" cy="4023360"/>
          </a:xfrm>
          <a:prstGeom prst="rect">
            <a:avLst/>
          </a:prstGeom>
          <a:solidFill>
            <a:srgbClr val="F8F7FF"/>
          </a:solidFill>
          <a:ln w="12700">
            <a:solidFill>
              <a:srgbClr val="E2E0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777240"/>
            <a:ext cx="4160520" cy="5029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7772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Sales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1078992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vendedores · 61,7% da base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32588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de conversão ponderada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1581912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9,42%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48640" y="207568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Faturamento estimado total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48640" y="233172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R$ 836.549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48640" y="282549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Faturamento médio / vendedor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48640" y="308152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R$ 28.847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48640" y="357530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Faturamento por lead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48640" y="3831336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R$ 112,05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709160" y="777240"/>
            <a:ext cx="4160520" cy="4023360"/>
          </a:xfrm>
          <a:prstGeom prst="rect">
            <a:avLst/>
          </a:prstGeom>
          <a:solidFill>
            <a:srgbClr val="F0FDF4"/>
          </a:solidFill>
          <a:ln w="12700">
            <a:solidFill>
              <a:srgbClr val="E2E0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777240"/>
            <a:ext cx="4160520" cy="5029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7772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Sales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846320" y="1078992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vendedores · 38,3% da base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92040" y="132588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de conversão ponderada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892040" y="1581912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16,10%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892040" y="207568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Faturamento estimado total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892040" y="233172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R$ 1.218.120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4892040" y="282549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Faturamento médio / vendedor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892040" y="308152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R$ 67.673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4892040" y="357530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Faturamento por lead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892040" y="3831336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R$ 204,52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365760" y="4892040"/>
            <a:ext cx="8412480" cy="0"/>
          </a:xfrm>
          <a:prstGeom prst="rect">
            <a:avLst/>
          </a:prstGeom>
          <a:solidFill>
            <a:srgbClr val="E2E0F0"/>
          </a:solidFill>
          <a:ln w="12700">
            <a:solidFill>
              <a:srgbClr val="E2E0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481888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médio praticamente igual entre canais (Field: R$ 1.249,48 · Inside: R$ 1.250,34) — a diferença de faturamento se explica pela maior conversão do Field Sales.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D2670"/>
          </a:solidFill>
          <a:ln w="12700">
            <a:solidFill>
              <a:srgbClr val="2D267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COMERCIAL — EXPERIÊNCIA DOS VENDEDORES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2697480" cy="1188720"/>
          </a:xfrm>
          <a:prstGeom prst="rect">
            <a:avLst/>
          </a:prstGeom>
          <a:solidFill>
            <a:srgbClr val="F1F0FA"/>
          </a:solidFill>
          <a:ln w="12700">
            <a:solidFill>
              <a:srgbClr val="E2E0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841248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Correlação com taxa de conversão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1225296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-0,36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02920" y="1627632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Relação negativa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46120" y="777240"/>
            <a:ext cx="2697480" cy="1188720"/>
          </a:xfrm>
          <a:prstGeom prst="rect">
            <a:avLst/>
          </a:prstGeom>
          <a:solidFill>
            <a:srgbClr val="F1F0FA"/>
          </a:solidFill>
          <a:ln w="12700">
            <a:solidFill>
              <a:srgbClr val="E2E0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83280" y="841248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Correlação com faturamento estimado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383280" y="1225296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-0,10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383280" y="1627632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relação clara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26480" y="777240"/>
            <a:ext cx="2697480" cy="1188720"/>
          </a:xfrm>
          <a:prstGeom prst="rect">
            <a:avLst/>
          </a:prstGeom>
          <a:solidFill>
            <a:srgbClr val="F1F0FA"/>
          </a:solidFill>
          <a:ln w="12700">
            <a:solidFill>
              <a:srgbClr val="E2E0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63640" y="841248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Correlação com faturamento por lead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263640" y="1225296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-0,16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263640" y="1627632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relação clara</a:t>
            </a:r>
            <a:endParaRPr lang="en-US" sz="100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365760" y="2103120"/>
          <a:ext cx="502920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7" name="Shape 14"/>
          <p:cNvSpPr/>
          <p:nvPr/>
        </p:nvSpPr>
        <p:spPr>
          <a:xfrm>
            <a:off x="5577840" y="2103120"/>
            <a:ext cx="3200400" cy="2560320"/>
          </a:xfrm>
          <a:prstGeom prst="rect">
            <a:avLst/>
          </a:prstGeom>
          <a:solidFill>
            <a:srgbClr val="EBE9F8"/>
          </a:solidFill>
          <a:ln w="12700">
            <a:solidFill>
              <a:srgbClr val="E2E0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577840" y="2103120"/>
            <a:ext cx="91440" cy="25603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760720" y="2176272"/>
            <a:ext cx="2880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isso significa?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760720" y="2560320"/>
            <a:ext cx="28803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Vendedores mais experientes não entregaram maior conversão nesta base. O grupo com 11+ anos teve a menor média (10,83%).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Isso não significa que experiência reduz performance — mas sugere que o canal de atuação explica melhor o resultado do que os anos de experiência isoladamente.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D267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A8B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RECOMENDAÇÃO ESTRATÉGICA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a Yandeh deve investir seus esforços?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353312"/>
            <a:ext cx="8412480" cy="111556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353312"/>
            <a:ext cx="109728" cy="1115568"/>
          </a:xfrm>
          <a:prstGeom prst="rect">
            <a:avLst/>
          </a:prstGeom>
          <a:solidFill>
            <a:srgbClr val="4B3FA0"/>
          </a:solidFill>
          <a:ln w="12700">
            <a:solidFill>
              <a:srgbClr val="4B3F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4173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51560" y="1417320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Melhorar previsibilidade das Carretas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" y="1783080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C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Carreta_Bau e Carreta_Sider geram ~72% da margem bruta, mas lideram os atrasos (&gt;64%, desvio de 25–27 min). A prioridade não é reduzir sua participação, mas tornar essa operação mais previsível: revisar roteirização, planejamento de carga/descarga, controle de prazos e o modelo de estimativa de tempo.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578608"/>
            <a:ext cx="8412480" cy="111556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2578608"/>
            <a:ext cx="109728" cy="111556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2642616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51560" y="2642616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Investigar e expandir Field Sales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51560" y="3008376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C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Sales converteu 16,10% vs 9,42% do Inside Sales, faturou R$ 1,2M vs R$ 836k e gerou R$ 204,52 por lead vs R$ 112,05. Investigar as práticas do canal e avaliar expansão — desde que inclua custo de visita para calcular ROI completo.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794760"/>
            <a:ext cx="8412480" cy="111556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3794760"/>
            <a:ext cx="109728" cy="11155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385876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51560" y="3858768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Enriquecer os dados para decisões completas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51560" y="4224528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C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Incluir custos logísticos completos (motorista, pedágio, manutenção) e custo comercial por canal para viabilizar análise de ROI real e monitoramento recorrente de margem × atraso.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D2670"/>
          </a:solidFill>
          <a:ln w="12700">
            <a:solidFill>
              <a:srgbClr val="2D267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LIMITAÇÕES E PRÓXIMOS PASSOS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2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Limitações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4114800" cy="804672"/>
          </a:xfrm>
          <a:prstGeom prst="rect">
            <a:avLst/>
          </a:prstGeom>
          <a:solidFill>
            <a:srgbClr val="F1F0FA"/>
          </a:solidFill>
          <a:ln w="12700">
            <a:solidFill>
              <a:srgbClr val="E2E0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88720"/>
            <a:ext cx="91440" cy="8046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261872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Margem bruta simplificada — considera apenas combustível. Motorista, pedágio, manutenção, depreciação e seguro não estão na base.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103120"/>
            <a:ext cx="4114800" cy="804672"/>
          </a:xfrm>
          <a:prstGeom prst="rect">
            <a:avLst/>
          </a:prstGeom>
          <a:solidFill>
            <a:srgbClr val="F1F0FA"/>
          </a:solidFill>
          <a:ln w="12700">
            <a:solidFill>
              <a:srgbClr val="E2E0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2103120"/>
            <a:ext cx="91440" cy="8046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176272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custo comercial por canal: custo de visita, comissão ou atendimento não disponíveis — ROI completo não pode ser calculado.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3017520"/>
            <a:ext cx="4114800" cy="804672"/>
          </a:xfrm>
          <a:prstGeom prst="rect">
            <a:avLst/>
          </a:prstGeom>
          <a:solidFill>
            <a:srgbClr val="F1F0FA"/>
          </a:solidFill>
          <a:ln w="12700">
            <a:solidFill>
              <a:srgbClr val="E2E0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3017520"/>
            <a:ext cx="91440" cy="8046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090672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série temporal nas entregas — impossível identificar sazonalidade ou tendências de melhora/piora.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0" y="7772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2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Passos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754880" y="1261872"/>
            <a:ext cx="320040" cy="320040"/>
          </a:xfrm>
          <a:prstGeom prst="ellipse">
            <a:avLst/>
          </a:prstGeom>
          <a:solidFill>
            <a:srgbClr val="4B3FA0"/>
          </a:solidFill>
          <a:ln w="12700">
            <a:solidFill>
              <a:srgbClr val="4B3F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126187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166360" y="126187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Incluir custos logísticos completos na base de entregas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54880" y="1810512"/>
            <a:ext cx="320040" cy="320040"/>
          </a:xfrm>
          <a:prstGeom prst="ellipse">
            <a:avLst/>
          </a:prstGeom>
          <a:solidFill>
            <a:srgbClr val="4B3FA0"/>
          </a:solidFill>
          <a:ln w="12700">
            <a:solidFill>
              <a:srgbClr val="4B3F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181051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166360" y="181051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Incluir custo de visita e atendimento comercial por canal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54880" y="2359152"/>
            <a:ext cx="320040" cy="320040"/>
          </a:xfrm>
          <a:prstGeom prst="ellipse">
            <a:avLst/>
          </a:prstGeom>
          <a:solidFill>
            <a:srgbClr val="4B3FA0"/>
          </a:solidFill>
          <a:ln w="12700">
            <a:solidFill>
              <a:srgbClr val="4B3F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23591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166360" y="235915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Analisar rotas específicas das carretas (distância, origem, destino)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54880" y="2907792"/>
            <a:ext cx="320040" cy="320040"/>
          </a:xfrm>
          <a:prstGeom prst="ellipse">
            <a:avLst/>
          </a:prstGeom>
          <a:solidFill>
            <a:srgbClr val="4B3FA0"/>
          </a:solidFill>
          <a:ln w="12700">
            <a:solidFill>
              <a:srgbClr val="4B3FA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29077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166360" y="290779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e recalibrar o modelo de previsão de tempo de entrega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754880" y="3456432"/>
            <a:ext cx="320040" cy="320040"/>
          </a:xfrm>
          <a:prstGeom prst="ellipse">
            <a:avLst/>
          </a:prstGeom>
          <a:solidFill>
            <a:srgbClr val="4B3FA0"/>
          </a:solidFill>
          <a:ln w="12700">
            <a:solidFill>
              <a:srgbClr val="4B3F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345643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166360" y="345643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monitoramento recorrente de margem × atraso por frota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65760" y="4251960"/>
            <a:ext cx="8412480" cy="594360"/>
          </a:xfrm>
          <a:prstGeom prst="rect">
            <a:avLst/>
          </a:prstGeom>
          <a:solidFill>
            <a:srgbClr val="2D2670"/>
          </a:solidFill>
          <a:ln w="12700">
            <a:solidFill>
              <a:srgbClr val="2D267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427939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Síntese: as carretas não são um problema financeiro — são um ponto crítico de previsibilidade. Field Sales demonstrou maior eficiência com os dados disponíveis.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D267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94560"/>
            <a:ext cx="9144000" cy="54864"/>
          </a:xfrm>
          <a:prstGeom prst="rect">
            <a:avLst/>
          </a:prstGeom>
          <a:solidFill>
            <a:srgbClr val="4B3FA0"/>
          </a:solidFill>
          <a:ln w="12700">
            <a:solidFill>
              <a:srgbClr val="4B3F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943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Obrigado!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8B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Guilherme Brevilato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377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8B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github.com/GuilhermeBrevilato/case-yandeh-business-solutions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3017520"/>
            <a:ext cx="1828800" cy="150876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15468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11.919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3767328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8B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entregas válidas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606040" y="3017520"/>
            <a:ext cx="1828800" cy="150876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06040" y="315468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72%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606040" y="3767328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8B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margem nas carretas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54880" y="3017520"/>
            <a:ext cx="1828800" cy="150876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315468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16,1%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754880" y="3767328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8B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conversão Field Sales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903720" y="3017520"/>
            <a:ext cx="1828800" cy="150876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03720" y="315468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R$ 204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903720" y="3767328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8B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faturamento/lead Field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Case Yandeh Business Solutions</dc:title>
  <dc:subject>PptxGenJS Presentation</dc:subject>
  <dc:creator>Guilherme Brevilato</dc:creator>
  <cp:lastModifiedBy>Guilherme Brevilato</cp:lastModifiedBy>
  <cp:revision>1</cp:revision>
  <dcterms:created xsi:type="dcterms:W3CDTF">2026-05-03T22:02:27Z</dcterms:created>
  <dcterms:modified xsi:type="dcterms:W3CDTF">2026-05-03T22:02:27Z</dcterms:modified>
</cp:coreProperties>
</file>