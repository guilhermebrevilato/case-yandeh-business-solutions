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977D3E-B365-863F-6EF0-ECA7215278B5}" v="285" dt="2026-05-04T10:56:20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1E1B4B"/>
                </a:solidFill>
                <a:latin typeface="Arial"/>
              </a:rPr>
              <a:t>Volume de Entregas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Entregas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789-4CFD-B7BF-CAF801CCDF1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789-4CFD-B7BF-CAF801CCDF1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789-4CFD-B7BF-CAF801CCDF1C}"/>
              </c:ext>
            </c:extLst>
          </c:dPt>
          <c:dPt>
            <c:idx val="3"/>
            <c:invertIfNegative val="0"/>
            <c:bubble3D val="0"/>
            <c:spPr>
              <a:solidFill>
                <a:srgbClr val="2D26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789-4CFD-B7BF-CAF801CCDF1C}"/>
              </c:ext>
            </c:extLst>
          </c:dPt>
          <c:dPt>
            <c:idx val="4"/>
            <c:invertIfNegative val="0"/>
            <c:bubble3D val="0"/>
            <c:spPr>
              <a:solidFill>
                <a:srgbClr val="2D26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789-4CFD-B7BF-CAF801CCDF1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9789-4CFD-B7BF-CAF801CCDF1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VUC</c:v>
                </c:pt>
                <c:pt idx="1">
                  <c:v>3/4</c:v>
                </c:pt>
                <c:pt idx="2">
                  <c:v>Toco</c:v>
                </c:pt>
                <c:pt idx="3">
                  <c:v>Carreta_Bau</c:v>
                </c:pt>
                <c:pt idx="4">
                  <c:v>Carreta_Sider</c:v>
                </c:pt>
                <c:pt idx="5">
                  <c:v>Truck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2956</c:v>
                </c:pt>
                <c:pt idx="1">
                  <c:v>2251</c:v>
                </c:pt>
                <c:pt idx="2">
                  <c:v>1921</c:v>
                </c:pt>
                <c:pt idx="3">
                  <c:v>1628</c:v>
                </c:pt>
                <c:pt idx="4">
                  <c:v>1582</c:v>
                </c:pt>
                <c:pt idx="5">
                  <c:v>1580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789-4CFD-B7BF-CAF801CCDF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1E1B4B"/>
                </a:solidFill>
                <a:latin typeface="Arial"/>
              </a:rPr>
              <a:t>Participação na Margem Bruta Total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 na margem (%)</c:v>
                </c:pt>
              </c:strCache>
            </c:strRef>
          </c:tx>
          <c:spPr>
            <a:solidFill>
              <a:srgbClr val="A8B4F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C66-43A6-BD4B-D8FF6975D13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C66-43A6-BD4B-D8FF6975D13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C66-43A6-BD4B-D8FF6975D13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C66-43A6-BD4B-D8FF6975D13C}"/>
              </c:ext>
            </c:extLst>
          </c:dPt>
          <c:dPt>
            <c:idx val="4"/>
            <c:invertIfNegative val="0"/>
            <c:bubble3D val="0"/>
            <c:spPr>
              <a:solidFill>
                <a:srgbClr val="2D26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C66-43A6-BD4B-D8FF6975D13C}"/>
              </c:ext>
            </c:extLst>
          </c:dPt>
          <c:dPt>
            <c:idx val="5"/>
            <c:invertIfNegative val="0"/>
            <c:bubble3D val="0"/>
            <c:spPr>
              <a:solidFill>
                <a:srgbClr val="2D26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C66-43A6-BD4B-D8FF6975D13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VUC</c:v>
                </c:pt>
                <c:pt idx="1">
                  <c:v>3/4</c:v>
                </c:pt>
                <c:pt idx="2">
                  <c:v>Toco</c:v>
                </c:pt>
                <c:pt idx="3">
                  <c:v>Truck</c:v>
                </c:pt>
                <c:pt idx="4">
                  <c:v>Carreta_Sider</c:v>
                </c:pt>
                <c:pt idx="5">
                  <c:v>Carreta_Bau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5.44</c:v>
                </c:pt>
                <c:pt idx="1">
                  <c:v>5.44</c:v>
                </c:pt>
                <c:pt idx="2">
                  <c:v>7.29</c:v>
                </c:pt>
                <c:pt idx="3">
                  <c:v>9.65</c:v>
                </c:pt>
                <c:pt idx="4">
                  <c:v>35.93</c:v>
                </c:pt>
                <c:pt idx="5">
                  <c:v>36.26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C66-43A6-BD4B-D8FF6975D1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Entregas Atrasadas</c:v>
                </c:pt>
              </c:strCache>
            </c:strRef>
          </c:tx>
          <c:spPr>
            <a:solidFill>
              <a:srgbClr val="A8B4F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8B4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827-47CB-AE3A-3DDC62A96434}"/>
              </c:ext>
            </c:extLst>
          </c:dPt>
          <c:dPt>
            <c:idx val="1"/>
            <c:invertIfNegative val="0"/>
            <c:bubble3D val="0"/>
            <c:spPr>
              <a:solidFill>
                <a:srgbClr val="A8B4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27-47CB-AE3A-3DDC62A96434}"/>
              </c:ext>
            </c:extLst>
          </c:dPt>
          <c:dPt>
            <c:idx val="2"/>
            <c:invertIfNegative val="0"/>
            <c:bubble3D val="0"/>
            <c:spPr>
              <a:solidFill>
                <a:srgbClr val="A8B4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827-47CB-AE3A-3DDC62A96434}"/>
              </c:ext>
            </c:extLst>
          </c:dPt>
          <c:dPt>
            <c:idx val="3"/>
            <c:invertIfNegative val="0"/>
            <c:bubble3D val="0"/>
            <c:spPr>
              <a:solidFill>
                <a:srgbClr val="5B21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827-47CB-AE3A-3DDC62A96434}"/>
              </c:ext>
            </c:extLst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827-47CB-AE3A-3DDC62A96434}"/>
              </c:ext>
            </c:extLst>
          </c:dPt>
          <c:dPt>
            <c:idx val="5"/>
            <c:invertIfNegative val="0"/>
            <c:bubble3D val="0"/>
            <c:spPr>
              <a:solidFill>
                <a:srgbClr val="B91C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827-47CB-AE3A-3DDC62A9643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VUC</c:v>
                </c:pt>
                <c:pt idx="1">
                  <c:v>3/4</c:v>
                </c:pt>
                <c:pt idx="2">
                  <c:v>Toco</c:v>
                </c:pt>
                <c:pt idx="3">
                  <c:v>Truck</c:v>
                </c:pt>
                <c:pt idx="4">
                  <c:v>Carreta_Bau</c:v>
                </c:pt>
                <c:pt idx="5">
                  <c:v>Carreta_Sider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55.35</c:v>
                </c:pt>
                <c:pt idx="1">
                  <c:v>55.98</c:v>
                </c:pt>
                <c:pt idx="2">
                  <c:v>56.53</c:v>
                </c:pt>
                <c:pt idx="3">
                  <c:v>62.03</c:v>
                </c:pt>
                <c:pt idx="4">
                  <c:v>64.430000000000007</c:v>
                </c:pt>
                <c:pt idx="5">
                  <c:v>65.61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827-47CB-AE3A-3DDC62A964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pt-BR" sz="1100" b="0" i="0" u="none" strike="noStrike">
                <a:solidFill>
                  <a:srgbClr val="1E1B4B"/>
                </a:solidFill>
                <a:latin typeface="Arial"/>
              </a:rPr>
              <a:t>Conversão Média por Faixa de Experiência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Conversão média (%)</c:v>
                </c:pt>
              </c:strCache>
            </c:strRef>
          </c:tx>
          <c:spPr>
            <a:solidFill>
              <a:srgbClr val="4B3F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DAF-4365-A10C-1FC844B99D10}"/>
              </c:ext>
            </c:extLst>
          </c:dPt>
          <c:dPt>
            <c:idx val="1"/>
            <c:invertIfNegative val="0"/>
            <c:bubble3D val="0"/>
            <c:spPr>
              <a:solidFill>
                <a:srgbClr val="5B21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DAF-4365-A10C-1FC844B99D10}"/>
              </c:ext>
            </c:extLst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DAF-4365-A10C-1FC844B99D10}"/>
              </c:ext>
            </c:extLst>
          </c:dPt>
          <c:dPt>
            <c:idx val="3"/>
            <c:invertIfNegative val="0"/>
            <c:bubble3D val="0"/>
            <c:spPr>
              <a:solidFill>
                <a:srgbClr val="A8B4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DAF-4365-A10C-1FC844B99D1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0–2 anos</c:v>
                </c:pt>
                <c:pt idx="1">
                  <c:v>3–5 anos</c:v>
                </c:pt>
                <c:pt idx="2">
                  <c:v>6–10 anos</c:v>
                </c:pt>
                <c:pt idx="3">
                  <c:v>11+ anos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15.14</c:v>
                </c:pt>
                <c:pt idx="1">
                  <c:v>13.22</c:v>
                </c:pt>
                <c:pt idx="2">
                  <c:v>13.07</c:v>
                </c:pt>
                <c:pt idx="3">
                  <c:v>10.83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DAF-4365-A10C-1FC844B99D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05FA1-4534-4770-96F4-CFF8BE92BA6B}" type="datetimeFigureOut">
              <a:t>04/05/2026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A95B5-2FAA-4F0B-A6BA-76F6A97BB8DD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060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TÉCNICO · DATA SCIENCE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Yandeh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11480" y="2148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Solutions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2834640"/>
            <a:ext cx="3200400" cy="45720"/>
          </a:xfrm>
          <a:prstGeom prst="rect">
            <a:avLst/>
          </a:prstGeom>
          <a:solidFill>
            <a:srgbClr val="A8B4F8"/>
          </a:solidFill>
          <a:ln w="12700">
            <a:solidFill>
              <a:srgbClr val="A8B4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Eficiência Logística e Comercial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Brevilato  ·  Maio 2025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github.com/GuilhermeBrevilato/case-yandeh-business-solutions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DE NEGÓCIO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005840"/>
          </a:xfrm>
          <a:prstGeom prst="rect">
            <a:avLst/>
          </a:prstGeom>
          <a:solidFill>
            <a:srgbClr val="EBE9F8"/>
          </a:solidFill>
          <a:ln w="12700">
            <a:solidFill>
              <a:srgbClr val="E2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91440" cy="1005840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Yandeh apresentou crescimento de receita, mas esse avanço não se refletiu proporcionalmente no lucro líquido. O case é uma investigação sobre onde a empresa perde margem, previsibilidade e eficiência."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114800" cy="201168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4114800" cy="347472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0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Logístico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Indícios de que o custo logístico em certas rotas supera o frete cobrado. Previsões de tempo do sistema estão falhando severamente.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920240"/>
            <a:ext cx="4114800" cy="201168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920240"/>
            <a:ext cx="4114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920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Comercial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304288"/>
            <a:ext cx="384048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Dois</a:t>
            </a:r>
            <a:r>
              <a:rPr lang="en-US" sz="12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canais</a:t>
            </a:r>
            <a:r>
              <a:rPr lang="en-US" sz="12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2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vendas</a:t>
            </a:r>
            <a:r>
              <a:rPr lang="en-US" sz="12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: Inside Sales e Field Sales. ROI </a:t>
            </a:r>
            <a:r>
              <a:rPr lang="en-US" sz="12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desconhecido</a:t>
            </a:r>
            <a:r>
              <a:rPr lang="en-US" sz="12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. Qual canal </a:t>
            </a:r>
            <a:r>
              <a:rPr lang="en-US" sz="12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apresenta</a:t>
            </a:r>
            <a:r>
              <a:rPr lang="en-US" sz="12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melhor</a:t>
            </a:r>
            <a:r>
              <a:rPr lang="en-US" sz="12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desempenho</a:t>
            </a:r>
            <a:r>
              <a:rPr lang="en-US" sz="12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financeiro</a:t>
            </a:r>
            <a:r>
              <a:rPr lang="en-US" sz="12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?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69080"/>
            <a:ext cx="82296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Missão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3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analisar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dados de </a:t>
            </a:r>
            <a:r>
              <a:rPr lang="en-US" sz="13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vendas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3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entregas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3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recomendar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onde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focar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recursos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para o </a:t>
            </a:r>
            <a:r>
              <a:rPr lang="en-US" sz="13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próximo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planejamento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financeiro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300" b="1" dirty="0" err="1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E QUALIDADE DOS DADOS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560320" cy="16459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411480" cy="41148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960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Carregamento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originais preservadas: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entregas_logistica.csv (12.000)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vendas_vendedores.csv (50)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560320" cy="16459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960120"/>
            <a:ext cx="411480" cy="41148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960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4173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nulos, duplicados, inconsistências e outliers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822960"/>
            <a:ext cx="2560320" cy="16459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960120"/>
            <a:ext cx="411480" cy="41148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960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4173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auxiliares para cada análise — dados brutos nunca alterados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2560320" cy="16459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80360"/>
            <a:ext cx="411480" cy="41148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bruta, margem %, atrasou, taxa de conversão, faturamento estimado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560320" cy="16459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880360"/>
            <a:ext cx="411480" cy="41148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3375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Frota, margem, atraso, ocupação, eficiência/km, canal, conversão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2743200"/>
            <a:ext cx="2560320" cy="16459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880360"/>
            <a:ext cx="411480" cy="41148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333756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dos achados em estratégia baseada nos números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solidFill>
            <a:srgbClr val="EBE9F8"/>
          </a:solidFill>
          <a:ln w="12700">
            <a:solidFill>
              <a:srgbClr val="E2E0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53128"/>
            <a:ext cx="8229600" cy="4663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Logística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: 81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registros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removidos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(0,68%) → 11.919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válidos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(80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registros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 com 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custo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combustível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neg e 1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registro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distancia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negativa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)  | 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Comercial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: bases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auxiliares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com 49 e 47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vendedores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análises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específicas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 | 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Margem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bruta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negativa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preservada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como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achado</a:t>
            </a:r>
            <a:r>
              <a:rPr lang="en-US" sz="1000" i="1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00" i="1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negócio</a:t>
            </a:r>
            <a:endParaRPr lang="en-US" sz="100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— VOLUME E RENTABILIDADE POR FROTA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77240"/>
          <a:ext cx="4206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777240"/>
          <a:ext cx="4206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227609"/>
            <a:ext cx="8412480" cy="822960"/>
          </a:xfrm>
          <a:prstGeom prst="rect">
            <a:avLst/>
          </a:prstGeom>
          <a:solidFill>
            <a:srgbClr val="EBE9F8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65760" y="4227609"/>
            <a:ext cx="91440" cy="822960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4360" y="4273329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Virada importante: as frotas com maior volume não são as que mais contribuem financeiramente. Carreta_Bau (36,26%) + Carreta_Sider (35,93%) concentram juntas ~72% da margem bruta total — mesmo com menos volume que o VUC.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291214"/>
              </p:ext>
            </p:extLst>
          </p:nvPr>
        </p:nvGraphicFramePr>
        <p:xfrm>
          <a:off x="369902" y="3133476"/>
          <a:ext cx="8412480" cy="975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Margem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na Margem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Margem Média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Carreta_Bau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R$ 2.634.701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36,26%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R$ 1.618,37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Carreta_Sider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R$ 2.611.022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35,93%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R$ 1.650,46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R$ 701.131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R$ 443,75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— PROBABILIDADE DE ATRASO POR FROTA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7724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777240"/>
          <a:ext cx="3200400" cy="28117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 Atraso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 Médio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 Mediano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Carreta_Sider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65,61%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27,22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25,16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Carreta_Bau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64,43%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25,63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25,72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62,03%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10,51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9,08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56,53%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5,39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4,29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55,98%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3,59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55,35%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2,49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369901" y="4135837"/>
            <a:ext cx="8408339" cy="934113"/>
          </a:xfrm>
          <a:prstGeom prst="rect">
            <a:avLst/>
          </a:prstGeom>
          <a:solidFill>
            <a:srgbClr val="EBE9F8"/>
          </a:solidFill>
          <a:ln w="12700">
            <a:solidFill>
              <a:srgbClr val="E2E0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6423" y="4159130"/>
            <a:ext cx="8402871" cy="88424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A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ocupação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média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foi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semelhante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entre as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frotas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(57%–59%),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portanto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não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explica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sozinha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o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maior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atraso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das carretas.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Ainda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assim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,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operar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abaixo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de 60%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pode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indicar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oportunidade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de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otimização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da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capacidade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.</a:t>
            </a:r>
            <a:endParaRPr lang="pt-BR" dirty="0"/>
          </a:p>
          <a:p>
            <a:endParaRPr lang="en-US" sz="1100" dirty="0">
              <a:solidFill>
                <a:srgbClr val="1E1B4B"/>
              </a:solidFill>
              <a:ea typeface="+mn-lt"/>
              <a:cs typeface="+mn-lt"/>
            </a:endParaRPr>
          </a:p>
          <a:p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⚠️ Ponto de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alerta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: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Carreta_Bau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e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Carreta_Sider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concentram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~72% da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margem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bruta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e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também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têm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os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maiores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atrasos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(&gt;64% de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probabilidade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; 25–27 min). O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fator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mais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provável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é a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maior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complexidade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das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rotas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: &gt;370 km vs. &lt;90 km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nas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demais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1E1B4B"/>
                </a:solidFill>
                <a:ea typeface="+mn-lt"/>
                <a:cs typeface="+mn-lt"/>
              </a:rPr>
              <a:t>frotas</a:t>
            </a:r>
            <a:r>
              <a:rPr lang="en-US" sz="1100" dirty="0">
                <a:solidFill>
                  <a:srgbClr val="1E1B4B"/>
                </a:solidFill>
                <a:ea typeface="+mn-lt"/>
                <a:cs typeface="+mn-lt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— MATRIZ MARGEM × ATRASO (diagnóstico principal)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60520" cy="4114800"/>
          </a:xfrm>
          <a:prstGeom prst="rect">
            <a:avLst/>
          </a:prstGeom>
          <a:solidFill>
            <a:srgbClr val="F8F7FF"/>
          </a:solidFill>
          <a:ln w="12700">
            <a:solidFill>
              <a:srgbClr val="E2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26280" y="777240"/>
            <a:ext cx="4251960" cy="41148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margem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26280" y="8046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margem  ⚠  Prioridade máxima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66344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 Menor prob. de atraso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26280" y="4663440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prob. de atraso  ►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143000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143000"/>
            <a:ext cx="82296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197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4721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Margem: 5,44%  |  Prob. atraso: 55,35%  |  Margem média: R$ 133,65  |  Margem/km: R$ 2,85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057400"/>
            <a:ext cx="82296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112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23865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Margem: 5,44%  |  Prob. atraso: 55,98%  |  Margem média: R$ 175,47  |  Margem/km: R$ 3,36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71800"/>
            <a:ext cx="82296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026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3009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Margem: 7,29%  |  Prob. atraso: 56,53%  |  Margem média: R$ 275,60  |  Margem/km: R$ 4,10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86200"/>
            <a:ext cx="82296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9410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42153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Margem: 9,65%  |  Prob. atraso: 62,03%  |  Margem média: R$ 443,75  |  Margem/km: R$ 6,30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1143000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1143000"/>
            <a:ext cx="82296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11978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Carreta_Sider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82312" y="1508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Margem: 35,93%  |  Prob. atraso: 65,61%  |  Margem média: R$ 1.650,46  |  Margem/km: R$ 4,49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2697480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697480"/>
            <a:ext cx="82296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27523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Carreta_Bau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82312" y="30632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Margem: 36,26%  |  Prob. atraso: 64,43%  |  Margem média: R$ 1.618,37  |  Margem/km: R$ 4,40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COMERCIAL — INSIDE SALES vs FIELD SALES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60520" cy="4023360"/>
          </a:xfrm>
          <a:prstGeom prst="rect">
            <a:avLst/>
          </a:prstGeom>
          <a:solidFill>
            <a:srgbClr val="F8F7FF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Sales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5953" y="107899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29 </a:t>
            </a:r>
            <a:r>
              <a:rPr lang="en-US" sz="10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vendedores</a:t>
            </a:r>
            <a:r>
              <a:rPr lang="en-US" sz="1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· 61,7% da base</a:t>
            </a:r>
            <a:endParaRPr lang="en-US" sz="1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conversão ponderada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5819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9,42%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0756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estimado total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R$ 836.549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28254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médio / vendedor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R$ 28.847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35753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por lead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83133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R$ 112,05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09160" y="777240"/>
            <a:ext cx="4160520" cy="40233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777240"/>
            <a:ext cx="416052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Sales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1070" y="1078992"/>
            <a:ext cx="384048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18 </a:t>
            </a:r>
            <a:r>
              <a:rPr lang="en-US" sz="10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vendedores</a:t>
            </a:r>
            <a:r>
              <a:rPr lang="en-US" sz="1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· 38,3% da base</a:t>
            </a:r>
          </a:p>
        </p:txBody>
      </p:sp>
      <p:sp>
        <p:nvSpPr>
          <p:cNvPr id="20" name="Text 18"/>
          <p:cNvSpPr/>
          <p:nvPr/>
        </p:nvSpPr>
        <p:spPr>
          <a:xfrm>
            <a:off x="4892040" y="1325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conversão ponderada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15819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16,10%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92040" y="20756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estimado total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R$ 1.218.120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92040" y="28254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médio / vendedor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R$ 67.673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892040" y="35753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por lead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383133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R$ 204,52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65760" y="4892040"/>
            <a:ext cx="8412480" cy="0"/>
          </a:xfrm>
          <a:prstGeom prst="rect">
            <a:avLst/>
          </a:prstGeom>
          <a:solidFill>
            <a:srgbClr val="E2E0F0"/>
          </a:solidFill>
          <a:ln w="12700">
            <a:solidFill>
              <a:srgbClr val="E2E0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188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 praticamente igual entre canais (Field: R$ 1.249,48 · Inside: R$ 1.250,34) — a diferença de faturamento se explica pela maior conversão do Field Sales.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COMERCIAL — EXPERIÊNCIA DOS VENDEDORES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697480" cy="11887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412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com taxa de conversão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-0,36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negativa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697480" cy="11887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8412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com faturamento estimado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0" y="12252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16276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relação clara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777240"/>
            <a:ext cx="2697480" cy="1188720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8412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com faturamento por lead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63640" y="12252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-0,16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63640" y="16276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relação clara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65760" y="210312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5577840" y="2103120"/>
            <a:ext cx="3200400" cy="2560320"/>
          </a:xfrm>
          <a:prstGeom prst="rect">
            <a:avLst/>
          </a:prstGeom>
          <a:solidFill>
            <a:srgbClr val="EBE9F8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2103120"/>
            <a:ext cx="91440" cy="2560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217627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significa?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760720" y="256032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 mais experientes não entregaram maior conversão nesta base. O grupo com 11+ anos teve a menor média (10,83%).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não significa que experiência reduz performance — mas sugere que o canal de atuação explica melhor o resultado do que os anos de experiência isoladamente.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2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ESTRATÉGICA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Onde a </a:t>
            </a:r>
            <a:r>
              <a:rPr lang="en-US" sz="24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Yandeh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deve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investir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seus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esforços</a:t>
            </a: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4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recursos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</a:t>
            </a: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353312"/>
            <a:ext cx="841248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53312"/>
            <a:ext cx="109728" cy="1115568"/>
          </a:xfrm>
          <a:prstGeom prst="rect">
            <a:avLst/>
          </a:prstGeom>
          <a:solidFill>
            <a:schemeClr val="accent4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100" dirty="0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 previsibilidade das Carretas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7830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Carreta_Bau e Carreta_Sider geram ~72% da margem bruta, mas lideram os atrasos (&gt;64%, desvio de 25–27 min). A prioridade não é reduzir sua participação, mas tornar essa operação mais previsível: revisar roteirização, planejamento de carga/descarga, controle de prazos e o modelo de estimativa de tempo.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78608"/>
            <a:ext cx="841248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578608"/>
            <a:ext cx="109728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6426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64261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e expandir Field Sales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008376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Sales converteu 16,10% vs 9,42% do Inside Sales, faturou R$ 1,2M vs R$ 836k e gerou R$ 204,52 por lead vs R$ 112,05. Investigar as práticas do canal e avaliar expansão — desde que inclua custo de visita para calcular ROI completo.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8412480" cy="11155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794760"/>
            <a:ext cx="109728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8587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85876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Enriquecer os dados para decisões completas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224528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custos logísticos completos (motorista, pedágio, manutenção) e custo comercial por canal para viabilizar análise de ROI real e monitoramento recorrente de margem × atraso.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PRÓXIMOS PASSOS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2325" y="1350231"/>
            <a:ext cx="4114800" cy="804672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2325" y="1350231"/>
            <a:ext cx="9144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5205" y="1423383"/>
            <a:ext cx="3840480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Margem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bruta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simplificada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considera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apenas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combustível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Motorista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pedágio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manutenção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depreciação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seguro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não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estão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base.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4044" y="2757445"/>
            <a:ext cx="4114800" cy="804672"/>
          </a:xfrm>
          <a:prstGeom prst="rect">
            <a:avLst/>
          </a:prstGeom>
          <a:solidFill>
            <a:srgbClr val="F1F0FA"/>
          </a:solidFill>
          <a:ln w="12700">
            <a:solidFill>
              <a:srgbClr val="E2E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4044" y="2757445"/>
            <a:ext cx="9144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6924" y="2830597"/>
            <a:ext cx="3840480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Sem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custo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comercial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canal: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custo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de visita,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comissão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ou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atendimento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não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disponíveis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, o ROI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completo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não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pode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 ser </a:t>
            </a:r>
            <a:r>
              <a:rPr lang="en-US" sz="1100" dirty="0" err="1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calculado</a:t>
            </a:r>
            <a:r>
              <a:rPr lang="en-US" sz="1100" dirty="0">
                <a:solidFill>
                  <a:srgbClr val="1E1B4B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54880" y="777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1261872"/>
            <a:ext cx="320040" cy="32004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261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1261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custos logísticos completos na base de entregas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810512"/>
            <a:ext cx="320040" cy="32004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810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18105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custo de visita e atendimento comercial por canal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359152"/>
            <a:ext cx="320040" cy="32004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359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2359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rotas específicas das carretas (distância, origem, destino)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907792"/>
            <a:ext cx="320040" cy="32004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2907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 recalibrar o modelo de previsão de tempo de entrega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456432"/>
            <a:ext cx="320040" cy="320040"/>
          </a:xfrm>
          <a:prstGeom prst="ellipse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456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34564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monitoramento recorrente de margem × atraso por frota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2D2670"/>
          </a:solidFill>
          <a:ln w="12700">
            <a:solidFill>
              <a:srgbClr val="2D26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279392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Síntese</a:t>
            </a: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: as carretas </a:t>
            </a: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não</a:t>
            </a: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são</a:t>
            </a: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um </a:t>
            </a: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problema</a:t>
            </a: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financeiro</a:t>
            </a: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e sim um </a:t>
            </a: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ponto</a:t>
            </a: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crítico</a:t>
            </a: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previsibilidade</a:t>
            </a: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 Field Sales </a:t>
            </a: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demonstrou</a:t>
            </a: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maior</a:t>
            </a: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eficiência</a:t>
            </a: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com </a:t>
            </a: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dados </a:t>
            </a: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disponíveis</a:t>
            </a: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2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Brevilato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github.com/GuilhermeBrevilato/case-yandeh-business-solutions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8288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54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11.919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767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válidas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3017520"/>
            <a:ext cx="18288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154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3767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nas carretas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18288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154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3767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Field Sales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03720" y="3017520"/>
            <a:ext cx="18288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3154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03720" y="3767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faturamento/lead Field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Yandeh Business Solutions</dc:title>
  <dc:subject>PptxGenJS Presentation</dc:subject>
  <dc:creator>Guilherme Brevilato</dc:creator>
  <cp:lastModifiedBy>Guilherme Brevilato</cp:lastModifiedBy>
  <cp:revision>90</cp:revision>
  <dcterms:created xsi:type="dcterms:W3CDTF">2026-05-03T22:02:27Z</dcterms:created>
  <dcterms:modified xsi:type="dcterms:W3CDTF">2026-05-04T10:57:03Z</dcterms:modified>
</cp:coreProperties>
</file>